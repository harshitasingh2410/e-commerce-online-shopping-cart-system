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3"/>
  </p:notesMasterIdLst>
  <p:sldIdLst>
    <p:sldId id="278" r:id="rId5"/>
    <p:sldId id="279" r:id="rId6"/>
    <p:sldId id="283" r:id="rId7"/>
    <p:sldId id="280" r:id="rId8"/>
    <p:sldId id="282" r:id="rId9"/>
    <p:sldId id="281" r:id="rId10"/>
    <p:sldId id="284" r:id="rId11"/>
    <p:sldId id="28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112857-A91E-490D-A620-3DE9AC6FE53D}" v="13" dt="2026-06-09T18:27:49.5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30" autoAdjust="0"/>
    <p:restoredTop sz="86370" autoAdjust="0"/>
  </p:normalViewPr>
  <p:slideViewPr>
    <p:cSldViewPr snapToGrid="0">
      <p:cViewPr varScale="1">
        <p:scale>
          <a:sx n="50" d="100"/>
          <a:sy n="50" d="100"/>
        </p:scale>
        <p:origin x="34" y="504"/>
      </p:cViewPr>
      <p:guideLst/>
    </p:cSldViewPr>
  </p:slideViewPr>
  <p:outlineViewPr>
    <p:cViewPr>
      <p:scale>
        <a:sx n="33" d="100"/>
        <a:sy n="33" d="100"/>
      </p:scale>
      <p:origin x="0" y="-451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a2410hp@outlook.com" userId="9d701a46893b38df" providerId="LiveId" clId="{DC37C52E-DA35-4FB6-B463-2DE032498552}"/>
    <pc:docChg chg="undo custSel addSld modSld sldOrd">
      <pc:chgData name="harshita2410hp@outlook.com" userId="9d701a46893b38df" providerId="LiveId" clId="{DC37C52E-DA35-4FB6-B463-2DE032498552}" dt="2026-06-09T18:29:31.557" v="113" actId="1035"/>
      <pc:docMkLst>
        <pc:docMk/>
      </pc:docMkLst>
      <pc:sldChg chg="addSp delSp modSp mod">
        <pc:chgData name="harshita2410hp@outlook.com" userId="9d701a46893b38df" providerId="LiveId" clId="{DC37C52E-DA35-4FB6-B463-2DE032498552}" dt="2026-06-09T18:19:06.188" v="59" actId="255"/>
        <pc:sldMkLst>
          <pc:docMk/>
          <pc:sldMk cId="1820329958" sldId="281"/>
        </pc:sldMkLst>
        <pc:spChg chg="add mod">
          <ac:chgData name="harshita2410hp@outlook.com" userId="9d701a46893b38df" providerId="LiveId" clId="{DC37C52E-DA35-4FB6-B463-2DE032498552}" dt="2026-06-09T18:08:22.778" v="0"/>
          <ac:spMkLst>
            <pc:docMk/>
            <pc:sldMk cId="1820329958" sldId="281"/>
            <ac:spMk id="2" creationId="{9FF423E0-4E29-22A2-C412-86DEDA483236}"/>
          </ac:spMkLst>
        </pc:spChg>
        <pc:spChg chg="add mod">
          <ac:chgData name="harshita2410hp@outlook.com" userId="9d701a46893b38df" providerId="LiveId" clId="{DC37C52E-DA35-4FB6-B463-2DE032498552}" dt="2026-06-09T18:19:06.188" v="59" actId="255"/>
          <ac:spMkLst>
            <pc:docMk/>
            <pc:sldMk cId="1820329958" sldId="281"/>
            <ac:spMk id="12" creationId="{957C7293-5695-5993-67E7-DFBCD2A523C8}"/>
          </ac:spMkLst>
        </pc:spChg>
        <pc:graphicFrameChg chg="add del modGraphic">
          <ac:chgData name="harshita2410hp@outlook.com" userId="9d701a46893b38df" providerId="LiveId" clId="{DC37C52E-DA35-4FB6-B463-2DE032498552}" dt="2026-06-09T18:14:35.885" v="21" actId="21"/>
          <ac:graphicFrameMkLst>
            <pc:docMk/>
            <pc:sldMk cId="1820329958" sldId="281"/>
            <ac:graphicFrameMk id="9" creationId="{F2F5C359-0FA6-C2FB-01D1-E03B5161CC98}"/>
          </ac:graphicFrameMkLst>
        </pc:graphicFrameChg>
        <pc:picChg chg="add mod">
          <ac:chgData name="harshita2410hp@outlook.com" userId="9d701a46893b38df" providerId="LiveId" clId="{DC37C52E-DA35-4FB6-B463-2DE032498552}" dt="2026-06-09T18:17:57.385" v="47" actId="14100"/>
          <ac:picMkLst>
            <pc:docMk/>
            <pc:sldMk cId="1820329958" sldId="281"/>
            <ac:picMk id="5" creationId="{776C9E11-587B-F707-F4DD-301DF80D4576}"/>
          </ac:picMkLst>
        </pc:picChg>
        <pc:picChg chg="add mod">
          <ac:chgData name="harshita2410hp@outlook.com" userId="9d701a46893b38df" providerId="LiveId" clId="{DC37C52E-DA35-4FB6-B463-2DE032498552}" dt="2026-06-09T18:17:53.510" v="46" actId="1076"/>
          <ac:picMkLst>
            <pc:docMk/>
            <pc:sldMk cId="1820329958" sldId="281"/>
            <ac:picMk id="7" creationId="{E8B111A0-E80A-77F6-3829-81543F62D383}"/>
          </ac:picMkLst>
        </pc:picChg>
        <pc:picChg chg="add mod">
          <ac:chgData name="harshita2410hp@outlook.com" userId="9d701a46893b38df" providerId="LiveId" clId="{DC37C52E-DA35-4FB6-B463-2DE032498552}" dt="2026-06-09T18:17:51.850" v="45" actId="1076"/>
          <ac:picMkLst>
            <pc:docMk/>
            <pc:sldMk cId="1820329958" sldId="281"/>
            <ac:picMk id="11" creationId="{5E696ADA-4C30-08ED-231A-93BC0661C003}"/>
          </ac:picMkLst>
        </pc:picChg>
      </pc:sldChg>
      <pc:sldChg chg="ord">
        <pc:chgData name="harshita2410hp@outlook.com" userId="9d701a46893b38df" providerId="LiveId" clId="{DC37C52E-DA35-4FB6-B463-2DE032498552}" dt="2026-06-09T18:13:22.279" v="19"/>
        <pc:sldMkLst>
          <pc:docMk/>
          <pc:sldMk cId="1708245926" sldId="282"/>
        </pc:sldMkLst>
      </pc:sldChg>
      <pc:sldChg chg="addSp delSp modSp mod">
        <pc:chgData name="harshita2410hp@outlook.com" userId="9d701a46893b38df" providerId="LiveId" clId="{DC37C52E-DA35-4FB6-B463-2DE032498552}" dt="2026-06-09T18:27:21.800" v="83" actId="1076"/>
        <pc:sldMkLst>
          <pc:docMk/>
          <pc:sldMk cId="2602170448" sldId="284"/>
        </pc:sldMkLst>
        <pc:spChg chg="add mod">
          <ac:chgData name="harshita2410hp@outlook.com" userId="9d701a46893b38df" providerId="LiveId" clId="{DC37C52E-DA35-4FB6-B463-2DE032498552}" dt="2026-06-09T18:25:32.201" v="75" actId="1076"/>
          <ac:spMkLst>
            <pc:docMk/>
            <pc:sldMk cId="2602170448" sldId="284"/>
            <ac:spMk id="2" creationId="{C9ED1D97-793A-A0C9-9072-266BFFD222F3}"/>
          </ac:spMkLst>
        </pc:spChg>
        <pc:spChg chg="add mod">
          <ac:chgData name="harshita2410hp@outlook.com" userId="9d701a46893b38df" providerId="LiveId" clId="{DC37C52E-DA35-4FB6-B463-2DE032498552}" dt="2026-06-09T18:25:26.795" v="74" actId="1076"/>
          <ac:spMkLst>
            <pc:docMk/>
            <pc:sldMk cId="2602170448" sldId="284"/>
            <ac:spMk id="4" creationId="{31B65179-B028-B5DF-B5EC-A1A809AAB70E}"/>
          </ac:spMkLst>
        </pc:spChg>
        <pc:spChg chg="add mod">
          <ac:chgData name="harshita2410hp@outlook.com" userId="9d701a46893b38df" providerId="LiveId" clId="{DC37C52E-DA35-4FB6-B463-2DE032498552}" dt="2026-06-09T18:26:40.083" v="80" actId="1076"/>
          <ac:spMkLst>
            <pc:docMk/>
            <pc:sldMk cId="2602170448" sldId="284"/>
            <ac:spMk id="5" creationId="{90EB07BD-B9EC-C895-D450-B152DBD58257}"/>
          </ac:spMkLst>
        </pc:spChg>
        <pc:spChg chg="mod">
          <ac:chgData name="harshita2410hp@outlook.com" userId="9d701a46893b38df" providerId="LiveId" clId="{DC37C52E-DA35-4FB6-B463-2DE032498552}" dt="2026-06-09T18:23:23.318" v="63" actId="207"/>
          <ac:spMkLst>
            <pc:docMk/>
            <pc:sldMk cId="2602170448" sldId="284"/>
            <ac:spMk id="7" creationId="{B6FD481A-8D24-B7AA-E188-70C924A2D467}"/>
          </ac:spMkLst>
        </pc:spChg>
        <pc:spChg chg="mod">
          <ac:chgData name="harshita2410hp@outlook.com" userId="9d701a46893b38df" providerId="LiveId" clId="{DC37C52E-DA35-4FB6-B463-2DE032498552}" dt="2026-06-09T18:24:12.756" v="67" actId="1076"/>
          <ac:spMkLst>
            <pc:docMk/>
            <pc:sldMk cId="2602170448" sldId="284"/>
            <ac:spMk id="8" creationId="{13C1A15D-CE93-D1F2-50B9-13429B22C536}"/>
          </ac:spMkLst>
        </pc:spChg>
        <pc:picChg chg="add mod">
          <ac:chgData name="harshita2410hp@outlook.com" userId="9d701a46893b38df" providerId="LiveId" clId="{DC37C52E-DA35-4FB6-B463-2DE032498552}" dt="2026-06-09T18:27:21.800" v="83" actId="1076"/>
          <ac:picMkLst>
            <pc:docMk/>
            <pc:sldMk cId="2602170448" sldId="284"/>
            <ac:picMk id="6" creationId="{C030C2AE-0923-FDB7-1A59-CBF2DE3E861D}"/>
          </ac:picMkLst>
        </pc:picChg>
        <pc:picChg chg="del">
          <ac:chgData name="harshita2410hp@outlook.com" userId="9d701a46893b38df" providerId="LiveId" clId="{DC37C52E-DA35-4FB6-B463-2DE032498552}" dt="2026-06-09T18:14:51.702" v="22" actId="21"/>
          <ac:picMkLst>
            <pc:docMk/>
            <pc:sldMk cId="2602170448" sldId="284"/>
            <ac:picMk id="9" creationId="{ACE7AF4F-2EBD-B9FF-94E2-6DDF07662C23}"/>
          </ac:picMkLst>
        </pc:picChg>
        <pc:picChg chg="del">
          <ac:chgData name="harshita2410hp@outlook.com" userId="9d701a46893b38df" providerId="LiveId" clId="{DC37C52E-DA35-4FB6-B463-2DE032498552}" dt="2026-06-09T18:14:54.489" v="23" actId="21"/>
          <ac:picMkLst>
            <pc:docMk/>
            <pc:sldMk cId="2602170448" sldId="284"/>
            <ac:picMk id="10" creationId="{FA228ADD-9D65-D343-65E5-44DA70F19A49}"/>
          </ac:picMkLst>
        </pc:picChg>
      </pc:sldChg>
      <pc:sldChg chg="addSp modSp new mod">
        <pc:chgData name="harshita2410hp@outlook.com" userId="9d701a46893b38df" providerId="LiveId" clId="{DC37C52E-DA35-4FB6-B463-2DE032498552}" dt="2026-06-09T18:29:31.557" v="113" actId="1035"/>
        <pc:sldMkLst>
          <pc:docMk/>
          <pc:sldMk cId="329984488" sldId="285"/>
        </pc:sldMkLst>
        <pc:spChg chg="add mod">
          <ac:chgData name="harshita2410hp@outlook.com" userId="9d701a46893b38df" providerId="LiveId" clId="{DC37C52E-DA35-4FB6-B463-2DE032498552}" dt="2026-06-09T18:29:27.898" v="112" actId="1076"/>
          <ac:spMkLst>
            <pc:docMk/>
            <pc:sldMk cId="329984488" sldId="285"/>
            <ac:spMk id="3" creationId="{4B753B97-BE29-39BA-DC57-9B0963A41FD6}"/>
          </ac:spMkLst>
        </pc:spChg>
        <pc:picChg chg="add mod">
          <ac:chgData name="harshita2410hp@outlook.com" userId="9d701a46893b38df" providerId="LiveId" clId="{DC37C52E-DA35-4FB6-B463-2DE032498552}" dt="2026-06-09T18:29:31.557" v="113" actId="1035"/>
          <ac:picMkLst>
            <pc:docMk/>
            <pc:sldMk cId="329984488" sldId="285"/>
            <ac:picMk id="2" creationId="{4762F024-146E-46FC-B657-CA2E4D80EDC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DE88F-1F85-4A27-9D34-D74A50E7B0D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170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C7A40-461C-DC98-B87D-840FAA82A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410DF4-A6C7-8A9F-029E-F91406C915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B5A36F-97BC-AECA-1376-EFEA076FC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A1605-2CA8-43B4-A082-A494D1D106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7067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B5026-6702-E5F7-98B3-0CEF55CEF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1DEC07-7DE0-B309-C4DC-571247BDE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897BA4-8486-0D70-5D96-6061108C1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C4927-3C4C-E07A-99BF-792BC3A93D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2036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8AAB6-60E4-7188-6464-1373CE1B9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1615EA-D397-E75F-1BD1-C4F598067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DBE4DE-4E48-00AE-5707-9E2666F524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0BAE5-D2EE-6FBE-5C2F-C4C2325C1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40428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DC4C7-42B9-F4F4-A3CD-8D634A2E2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14D2B2-CEDC-B549-2820-94F315BD96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9BD940-A205-A567-21A4-94E37D388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149F3-58F0-AEE4-6297-ECA672C7E8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7690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AA031-67B3-DF88-A01C-2B1EE1E4B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B78C06-9EE6-E270-A4CC-D316BFE6F4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970B73-2BE0-8C55-5FEF-18DD294186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E58F2-6668-ED16-2D72-4C4D7304A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2221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8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8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5" y="1906164"/>
            <a:ext cx="4234174" cy="1885753"/>
          </a:xfrm>
        </p:spPr>
        <p:txBody>
          <a:bodyPr>
            <a:normAutofit fontScale="90000"/>
          </a:bodyPr>
          <a:lstStyle/>
          <a:p>
            <a:pPr algn="l"/>
            <a:r>
              <a:rPr lang="en-IN" sz="4000" b="1" dirty="0"/>
              <a:t>E‑Commerce Shopping Cart System</a:t>
            </a:r>
            <a:br>
              <a:rPr lang="en-IN" sz="4000" b="1" dirty="0"/>
            </a:b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3436191"/>
            <a:ext cx="3485072" cy="1307691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IN" dirty="0"/>
              <a:t>Java-based application demonstrating core Object‑Oriented Programming principles for a simulated online store.</a:t>
            </a:r>
          </a:p>
          <a:p>
            <a:pPr algn="l"/>
            <a:endParaRPr lang="en-US" sz="2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6359A6-75E3-1841-D0C8-D1C7E2979C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6963" y="1420484"/>
            <a:ext cx="4100418" cy="410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69" b="24968"/>
          <a:stretch>
            <a:fillRect/>
          </a:stretch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 useBgFill="1">
        <p:nvSpPr>
          <p:cNvPr id="62" name="Freeform 5">
            <a:extLst>
              <a:ext uri="{FF2B5EF4-FFF2-40B4-BE49-F238E27FC236}">
                <a16:creationId xmlns:a16="http://schemas.microsoft.com/office/drawing/2014/main" id="{051F07E2-B05C-41F9-A9EE-4AC115603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11874" y="586660"/>
            <a:ext cx="10777950" cy="5679835"/>
          </a:xfrm>
          <a:custGeom>
            <a:avLst/>
            <a:gdLst>
              <a:gd name="T0" fmla="*/ 2209 w 2250"/>
              <a:gd name="T1" fmla="*/ 0 h 1185"/>
              <a:gd name="T2" fmla="*/ 1419 w 2250"/>
              <a:gd name="T3" fmla="*/ 0 h 1185"/>
              <a:gd name="T4" fmla="*/ 830 w 2250"/>
              <a:gd name="T5" fmla="*/ 0 h 1185"/>
              <a:gd name="T6" fmla="*/ 40 w 2250"/>
              <a:gd name="T7" fmla="*/ 0 h 1185"/>
              <a:gd name="T8" fmla="*/ 0 w 2250"/>
              <a:gd name="T9" fmla="*/ 46 h 1185"/>
              <a:gd name="T10" fmla="*/ 0 w 2250"/>
              <a:gd name="T11" fmla="*/ 1140 h 1185"/>
              <a:gd name="T12" fmla="*/ 40 w 2250"/>
              <a:gd name="T13" fmla="*/ 1185 h 1185"/>
              <a:gd name="T14" fmla="*/ 830 w 2250"/>
              <a:gd name="T15" fmla="*/ 1185 h 1185"/>
              <a:gd name="T16" fmla="*/ 1419 w 2250"/>
              <a:gd name="T17" fmla="*/ 1185 h 1185"/>
              <a:gd name="T18" fmla="*/ 2209 w 2250"/>
              <a:gd name="T19" fmla="*/ 1185 h 1185"/>
              <a:gd name="T20" fmla="*/ 2250 w 2250"/>
              <a:gd name="T21" fmla="*/ 1140 h 1185"/>
              <a:gd name="T22" fmla="*/ 2250 w 2250"/>
              <a:gd name="T23" fmla="*/ 46 h 1185"/>
              <a:gd name="T24" fmla="*/ 2209 w 2250"/>
              <a:gd name="T25" fmla="*/ 0 h 1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250" h="1185">
                <a:moveTo>
                  <a:pt x="2209" y="0"/>
                </a:moveTo>
                <a:cubicBezTo>
                  <a:pt x="1419" y="0"/>
                  <a:pt x="1419" y="0"/>
                  <a:pt x="1419" y="0"/>
                </a:cubicBezTo>
                <a:cubicBezTo>
                  <a:pt x="830" y="0"/>
                  <a:pt x="830" y="0"/>
                  <a:pt x="83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18" y="0"/>
                  <a:pt x="0" y="20"/>
                  <a:pt x="0" y="46"/>
                </a:cubicBezTo>
                <a:cubicBezTo>
                  <a:pt x="0" y="1140"/>
                  <a:pt x="0" y="1140"/>
                  <a:pt x="0" y="1140"/>
                </a:cubicBezTo>
                <a:cubicBezTo>
                  <a:pt x="0" y="1165"/>
                  <a:pt x="18" y="1185"/>
                  <a:pt x="40" y="1185"/>
                </a:cubicBezTo>
                <a:cubicBezTo>
                  <a:pt x="830" y="1185"/>
                  <a:pt x="830" y="1185"/>
                  <a:pt x="830" y="1185"/>
                </a:cubicBezTo>
                <a:cubicBezTo>
                  <a:pt x="1419" y="1185"/>
                  <a:pt x="1419" y="1185"/>
                  <a:pt x="1419" y="1185"/>
                </a:cubicBezTo>
                <a:cubicBezTo>
                  <a:pt x="2209" y="1185"/>
                  <a:pt x="2209" y="1185"/>
                  <a:pt x="2209" y="1185"/>
                </a:cubicBezTo>
                <a:cubicBezTo>
                  <a:pt x="2232" y="1185"/>
                  <a:pt x="2250" y="1165"/>
                  <a:pt x="2250" y="1140"/>
                </a:cubicBezTo>
                <a:cubicBezTo>
                  <a:pt x="2250" y="46"/>
                  <a:pt x="2250" y="46"/>
                  <a:pt x="2250" y="46"/>
                </a:cubicBezTo>
                <a:cubicBezTo>
                  <a:pt x="2250" y="20"/>
                  <a:pt x="2232" y="0"/>
                  <a:pt x="2209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799" y="1066800"/>
            <a:ext cx="10098553" cy="85555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Introduction — What this project does</a:t>
            </a:r>
            <a:br>
              <a:rPr lang="en-IN" b="1" dirty="0"/>
            </a:br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779" y="1816277"/>
            <a:ext cx="9145337" cy="1680411"/>
          </a:xfrm>
        </p:spPr>
        <p:txBody>
          <a:bodyPr anchor="ctr">
            <a:normAutofit lnSpcReduction="10000"/>
          </a:bodyPr>
          <a:lstStyle/>
          <a:p>
            <a:r>
              <a:rPr lang="en-IN" dirty="0"/>
              <a:t>The E‑Commerce Shopping Cart System simulates a typical online shopping flow in Java. It provides a lightweight, educational platform to practise OOP design while delivering end‑to‑end cart and billing functionality.</a:t>
            </a:r>
          </a:p>
          <a:p>
            <a:pPr marL="3690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A283C5-0CF3-4014-C5CA-1165048B9FBD}"/>
              </a:ext>
            </a:extLst>
          </p:cNvPr>
          <p:cNvSpPr txBox="1"/>
          <p:nvPr/>
        </p:nvSpPr>
        <p:spPr>
          <a:xfrm>
            <a:off x="1341212" y="3574570"/>
            <a:ext cx="253465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Add &amp; Manage Items</a:t>
            </a:r>
          </a:p>
          <a:p>
            <a:r>
              <a:rPr lang="en-IN" sz="2000" dirty="0"/>
              <a:t>Add items to cart, adjust quantities and remove unwanted products.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A38C0-6833-70A7-34CA-4BF55A59C5BA}"/>
              </a:ext>
            </a:extLst>
          </p:cNvPr>
          <p:cNvSpPr txBox="1"/>
          <p:nvPr/>
        </p:nvSpPr>
        <p:spPr>
          <a:xfrm>
            <a:off x="4578021" y="3577978"/>
            <a:ext cx="2759242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Automatic Calculations</a:t>
            </a:r>
          </a:p>
          <a:p>
            <a:r>
              <a:rPr lang="en-IN" sz="2000" dirty="0"/>
              <a:t>Automatic subtotal, discount, tax computation and final payable amount.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EB9AD4-7CE2-B5DF-7D24-B00E9FF25568}"/>
              </a:ext>
            </a:extLst>
          </p:cNvPr>
          <p:cNvSpPr txBox="1"/>
          <p:nvPr/>
        </p:nvSpPr>
        <p:spPr>
          <a:xfrm>
            <a:off x="7742012" y="3577978"/>
            <a:ext cx="2996712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OOP &amp; Data Structures</a:t>
            </a:r>
          </a:p>
          <a:p>
            <a:r>
              <a:rPr lang="en-IN" sz="2000" dirty="0"/>
              <a:t>Built with classes, encapsulation, constructors and Collections/arrays for storage.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BDFF9-CE5C-D4E0-0DEB-F1D034149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AC75B7-31D3-F4B1-5388-D420B8A08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69" b="24968"/>
          <a:stretch>
            <a:fillRect/>
          </a:stretch>
        </p:blipFill>
        <p:spPr>
          <a:xfrm>
            <a:off x="0" y="0"/>
            <a:ext cx="12191980" cy="685799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6A0F8D-28D7-38B5-3385-C9FF417E4119}"/>
              </a:ext>
            </a:extLst>
          </p:cNvPr>
          <p:cNvSpPr/>
          <p:nvPr/>
        </p:nvSpPr>
        <p:spPr>
          <a:xfrm>
            <a:off x="693030" y="567392"/>
            <a:ext cx="10805919" cy="572111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F66A56-B575-05BB-87AC-A10268D71C82}"/>
              </a:ext>
            </a:extLst>
          </p:cNvPr>
          <p:cNvSpPr txBox="1"/>
          <p:nvPr/>
        </p:nvSpPr>
        <p:spPr>
          <a:xfrm>
            <a:off x="1604212" y="1122946"/>
            <a:ext cx="84381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Technologies &amp; Architecture</a:t>
            </a:r>
          </a:p>
          <a:p>
            <a:endParaRPr lang="en-IN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EDA3175-FAA4-72FB-43B2-AEE9CAE68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4212" y="2323275"/>
            <a:ext cx="9063790" cy="2743200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Language: </a:t>
            </a:r>
            <a:r>
              <a:rPr lang="en-IN" b="1" dirty="0"/>
              <a:t>Java</a:t>
            </a:r>
            <a:r>
              <a:rPr lang="en-IN" dirty="0"/>
              <a:t> </a:t>
            </a:r>
          </a:p>
          <a:p>
            <a:r>
              <a:rPr lang="en-IN" dirty="0"/>
              <a:t>Design: Core OOP — Classes, Objects, Encapsulation</a:t>
            </a:r>
          </a:p>
          <a:p>
            <a:r>
              <a:rPr lang="en-IN" dirty="0"/>
              <a:t>Data: Arrays or Collections (ArrayList, HashMap) ,Constructors,</a:t>
            </a:r>
          </a:p>
          <a:p>
            <a:pPr marL="36900" indent="0">
              <a:buNone/>
            </a:pPr>
            <a:r>
              <a:rPr lang="en-IN" dirty="0"/>
              <a:t>     Methods for cart operations</a:t>
            </a:r>
          </a:p>
          <a:p>
            <a:r>
              <a:rPr lang="en-IN" dirty="0"/>
              <a:t>Features: Add/Remove/View items, Discounts, Tax, Billing</a:t>
            </a:r>
          </a:p>
          <a:p>
            <a:r>
              <a:rPr lang="en-IN" dirty="0"/>
              <a:t>Extensibility: Modular classes for Product, Cart, Billing, User</a:t>
            </a:r>
          </a:p>
          <a:p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A323C75-8CFA-CC4D-882F-E29FDAC3C7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3338" y="1989913"/>
            <a:ext cx="1550202" cy="138589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30FB1D3-13F1-A264-F473-503A1BB4A5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4902" y="3709173"/>
            <a:ext cx="1433378" cy="142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095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BB33A-4DDE-8BCE-078A-FCF3D9918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0FB50F-889A-E46F-2509-60A3264D3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69" b="24968"/>
          <a:stretch>
            <a:fillRect/>
          </a:stretch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12D3F4-A4D2-9207-794D-8ED08F468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799" y="1066800"/>
            <a:ext cx="10098553" cy="855556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8C9B0D5-5733-E277-E90D-4A0A13B0305A}"/>
              </a:ext>
            </a:extLst>
          </p:cNvPr>
          <p:cNvSpPr/>
          <p:nvPr/>
        </p:nvSpPr>
        <p:spPr>
          <a:xfrm>
            <a:off x="384174" y="236370"/>
            <a:ext cx="11376027" cy="629301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E667AE-C824-5D3D-BB36-83D60DA0247A}"/>
              </a:ext>
            </a:extLst>
          </p:cNvPr>
          <p:cNvSpPr txBox="1"/>
          <p:nvPr/>
        </p:nvSpPr>
        <p:spPr>
          <a:xfrm>
            <a:off x="1475874" y="882134"/>
            <a:ext cx="93285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>
                <a:solidFill>
                  <a:schemeClr val="accent1">
                    <a:lumMod val="20000"/>
                    <a:lumOff val="80000"/>
                  </a:schemeClr>
                </a:solidFill>
              </a:rPr>
              <a:t>How the System Works — Process Flow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EDDCA46-ABAE-27EA-3ECA-143047CBC540}"/>
              </a:ext>
            </a:extLst>
          </p:cNvPr>
          <p:cNvSpPr/>
          <p:nvPr/>
        </p:nvSpPr>
        <p:spPr>
          <a:xfrm>
            <a:off x="700470" y="1786313"/>
            <a:ext cx="1614487" cy="1585913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EBDC392C-B242-77A6-A413-8CFB7087D4F1}"/>
              </a:ext>
            </a:extLst>
          </p:cNvPr>
          <p:cNvSpPr/>
          <p:nvPr/>
        </p:nvSpPr>
        <p:spPr>
          <a:xfrm>
            <a:off x="2457804" y="2372984"/>
            <a:ext cx="482654" cy="308318"/>
          </a:xfrm>
          <a:prstGeom prst="rightArrow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5E37EA5-BF61-E156-AF57-54D7968AD623}"/>
              </a:ext>
            </a:extLst>
          </p:cNvPr>
          <p:cNvSpPr/>
          <p:nvPr/>
        </p:nvSpPr>
        <p:spPr>
          <a:xfrm>
            <a:off x="3087173" y="1804485"/>
            <a:ext cx="1614487" cy="1585913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E059E73-1D5D-DC95-5E1C-32BC85487BDA}"/>
              </a:ext>
            </a:extLst>
          </p:cNvPr>
          <p:cNvSpPr/>
          <p:nvPr/>
        </p:nvSpPr>
        <p:spPr>
          <a:xfrm>
            <a:off x="5349218" y="1821875"/>
            <a:ext cx="1614487" cy="1585913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4FB29C4-832D-991C-95A1-05FC5237A59B}"/>
              </a:ext>
            </a:extLst>
          </p:cNvPr>
          <p:cNvSpPr/>
          <p:nvPr/>
        </p:nvSpPr>
        <p:spPr>
          <a:xfrm>
            <a:off x="7585090" y="1810140"/>
            <a:ext cx="1614487" cy="1585913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3117620-25C7-9175-DF79-CD137D0B4C50}"/>
              </a:ext>
            </a:extLst>
          </p:cNvPr>
          <p:cNvSpPr/>
          <p:nvPr/>
        </p:nvSpPr>
        <p:spPr>
          <a:xfrm>
            <a:off x="9896600" y="1786313"/>
            <a:ext cx="1614487" cy="1585913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7CA3640-799B-3D1E-F52C-25913F415BCD}"/>
              </a:ext>
            </a:extLst>
          </p:cNvPr>
          <p:cNvSpPr/>
          <p:nvPr/>
        </p:nvSpPr>
        <p:spPr>
          <a:xfrm>
            <a:off x="4856765" y="2372984"/>
            <a:ext cx="482654" cy="308318"/>
          </a:xfrm>
          <a:prstGeom prst="rightArrow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AC4DACFB-26A1-E05B-8E59-E92CFF6BE260}"/>
              </a:ext>
            </a:extLst>
          </p:cNvPr>
          <p:cNvSpPr/>
          <p:nvPr/>
        </p:nvSpPr>
        <p:spPr>
          <a:xfrm>
            <a:off x="7079181" y="2416111"/>
            <a:ext cx="482654" cy="308318"/>
          </a:xfrm>
          <a:prstGeom prst="rightArrow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FC893BFF-3FBD-3B47-E420-18410B0D0888}"/>
              </a:ext>
            </a:extLst>
          </p:cNvPr>
          <p:cNvSpPr/>
          <p:nvPr/>
        </p:nvSpPr>
        <p:spPr>
          <a:xfrm>
            <a:off x="9338308" y="2372984"/>
            <a:ext cx="482654" cy="308318"/>
          </a:xfrm>
          <a:prstGeom prst="rightArrow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3B52BD-D01B-3F23-755B-567C7C32E769}"/>
              </a:ext>
            </a:extLst>
          </p:cNvPr>
          <p:cNvSpPr txBox="1"/>
          <p:nvPr/>
        </p:nvSpPr>
        <p:spPr>
          <a:xfrm>
            <a:off x="818649" y="3537148"/>
            <a:ext cx="13144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Select Product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2273CF-CCA3-989A-4BE1-453D9CA75120}"/>
              </a:ext>
            </a:extLst>
          </p:cNvPr>
          <p:cNvSpPr txBox="1"/>
          <p:nvPr/>
        </p:nvSpPr>
        <p:spPr>
          <a:xfrm>
            <a:off x="3365778" y="3467603"/>
            <a:ext cx="10572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Add to Cart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D10A80-FF66-CB65-31AA-07916EE50A41}"/>
              </a:ext>
            </a:extLst>
          </p:cNvPr>
          <p:cNvSpPr txBox="1"/>
          <p:nvPr/>
        </p:nvSpPr>
        <p:spPr>
          <a:xfrm>
            <a:off x="5686425" y="3467603"/>
            <a:ext cx="10572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View Cart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9D3C30-EFBD-61DF-3336-14C03E4A73C7}"/>
              </a:ext>
            </a:extLst>
          </p:cNvPr>
          <p:cNvSpPr txBox="1"/>
          <p:nvPr/>
        </p:nvSpPr>
        <p:spPr>
          <a:xfrm>
            <a:off x="7768949" y="3467602"/>
            <a:ext cx="13144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Apply Discount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E70761-A50F-2140-E1A5-8415C3E7C5E3}"/>
              </a:ext>
            </a:extLst>
          </p:cNvPr>
          <p:cNvSpPr txBox="1"/>
          <p:nvPr/>
        </p:nvSpPr>
        <p:spPr>
          <a:xfrm>
            <a:off x="10086975" y="3537147"/>
            <a:ext cx="1424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Calculate Tax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09F608B-D7A9-E7B4-A031-9AA33B7C0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650" y="2087278"/>
            <a:ext cx="985725" cy="98572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0E0BF17-B605-5C10-B21E-42186B9E13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2691" y="2153973"/>
            <a:ext cx="965981" cy="96598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72400F2-20F8-FAAC-5D88-FE5E76AB2A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2349" y="2165626"/>
            <a:ext cx="1031351" cy="103135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48B8D16-0CC7-364F-7A16-97B6B08277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8434" y="2193788"/>
            <a:ext cx="907006" cy="90700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4BFA569-B070-94E3-78B5-DFA470C653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82212" y="2257638"/>
            <a:ext cx="643262" cy="643262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5B80221-75E3-5118-2EB3-FBB8629B6D0F}"/>
              </a:ext>
            </a:extLst>
          </p:cNvPr>
          <p:cNvSpPr txBox="1"/>
          <p:nvPr/>
        </p:nvSpPr>
        <p:spPr>
          <a:xfrm>
            <a:off x="1265718" y="4760149"/>
            <a:ext cx="286682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1. </a:t>
            </a:r>
            <a:r>
              <a:rPr lang="en-IN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Product Selection</a:t>
            </a:r>
          </a:p>
          <a:p>
            <a: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Product objects (ID, name, price, qty) are created and selected by the use</a:t>
            </a:r>
          </a:p>
          <a:p>
            <a:endParaRPr lang="en-I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52452E-6C23-BC25-8A6F-8C73796CF5FD}"/>
              </a:ext>
            </a:extLst>
          </p:cNvPr>
          <p:cNvSpPr txBox="1"/>
          <p:nvPr/>
        </p:nvSpPr>
        <p:spPr>
          <a:xfrm>
            <a:off x="5112821" y="4760149"/>
            <a:ext cx="26561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2. Cart Management</a:t>
            </a:r>
          </a:p>
          <a:p>
            <a: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Cart stores items using Collections; supports update</a:t>
            </a:r>
          </a:p>
          <a:p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C8E2CBC-A953-368C-0507-9F1B52481044}"/>
              </a:ext>
            </a:extLst>
          </p:cNvPr>
          <p:cNvSpPr txBox="1"/>
          <p:nvPr/>
        </p:nvSpPr>
        <p:spPr>
          <a:xfrm>
            <a:off x="8331162" y="4718463"/>
            <a:ext cx="28668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3. Billing &amp; Checkout</a:t>
            </a:r>
          </a:p>
          <a:p>
            <a: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Subtotal → Discount → Tax → Final total. Bill generated as text or GUI receipt.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9948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9E590-80D3-2893-1134-A0D0AEFE1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5E23DB-DDE1-171D-8A17-974BCA69D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69" b="24968"/>
          <a:stretch>
            <a:fillRect/>
          </a:stretch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6B5718-354C-302D-2884-D94E1C720C53}"/>
              </a:ext>
            </a:extLst>
          </p:cNvPr>
          <p:cNvSpPr/>
          <p:nvPr/>
        </p:nvSpPr>
        <p:spPr>
          <a:xfrm>
            <a:off x="514335" y="542924"/>
            <a:ext cx="11163310" cy="577215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2E0624-B5C7-E72C-5C79-AF22AD22517E}"/>
              </a:ext>
            </a:extLst>
          </p:cNvPr>
          <p:cNvSpPr txBox="1"/>
          <p:nvPr/>
        </p:nvSpPr>
        <p:spPr>
          <a:xfrm>
            <a:off x="1757363" y="685801"/>
            <a:ext cx="845820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Screenshots — Product Management</a:t>
            </a:r>
          </a:p>
          <a:p>
            <a:endParaRPr lang="en-IN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142303-6157-2E13-CD88-07D68F6E85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363" y="1628776"/>
            <a:ext cx="3821440" cy="40007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88DBA96-3DEE-4748-9275-1AB09CEF04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3199" y="1592251"/>
            <a:ext cx="3530957" cy="403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245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DA77F-405F-EBED-DAE5-8335BD4DC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976266-42DD-0171-0004-056DEF24B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69" b="24968"/>
          <a:stretch>
            <a:fillRect/>
          </a:stretch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FF423E0-4E29-22A2-C412-86DEDA483236}"/>
              </a:ext>
            </a:extLst>
          </p:cNvPr>
          <p:cNvSpPr/>
          <p:nvPr/>
        </p:nvSpPr>
        <p:spPr>
          <a:xfrm>
            <a:off x="514335" y="542924"/>
            <a:ext cx="11163310" cy="577215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6C9E11-587B-F707-F4DD-301DF80D45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973" y="1183340"/>
            <a:ext cx="3542200" cy="41638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B111A0-E80A-77F6-3829-81543F62D3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116" y="1183340"/>
            <a:ext cx="3172518" cy="41638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696ADA-4C30-08ED-231A-93BC0661C0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5578" y="1183340"/>
            <a:ext cx="3347449" cy="41638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7C7293-5695-5993-67E7-DFBCD2A523C8}"/>
              </a:ext>
            </a:extLst>
          </p:cNvPr>
          <p:cNvSpPr txBox="1"/>
          <p:nvPr/>
        </p:nvSpPr>
        <p:spPr>
          <a:xfrm>
            <a:off x="8005578" y="792480"/>
            <a:ext cx="19282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Output:-</a:t>
            </a:r>
          </a:p>
        </p:txBody>
      </p:sp>
    </p:spTree>
    <p:extLst>
      <p:ext uri="{BB962C8B-B14F-4D97-AF65-F5344CB8AC3E}">
        <p14:creationId xmlns:p14="http://schemas.microsoft.com/office/powerpoint/2010/main" val="1820329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C2E3E-6753-DE2F-2EB5-F460A10E6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B8BDCD-5D8D-B707-44C0-39E9A2321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69" b="24968"/>
          <a:stretch>
            <a:fillRect/>
          </a:stretch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6FD481A-8D24-B7AA-E188-70C924A2D467}"/>
              </a:ext>
            </a:extLst>
          </p:cNvPr>
          <p:cNvSpPr/>
          <p:nvPr/>
        </p:nvSpPr>
        <p:spPr>
          <a:xfrm>
            <a:off x="514335" y="542924"/>
            <a:ext cx="11163310" cy="577215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2">
                  <a:lumMod val="9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C1A15D-CE93-D1F2-50B9-13429B22C536}"/>
              </a:ext>
            </a:extLst>
          </p:cNvPr>
          <p:cNvSpPr txBox="1"/>
          <p:nvPr/>
        </p:nvSpPr>
        <p:spPr>
          <a:xfrm>
            <a:off x="2427923" y="818555"/>
            <a:ext cx="845820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tx2">
                    <a:lumMod val="90000"/>
                  </a:schemeClr>
                </a:solidFill>
              </a:rPr>
              <a:t>Conclusion &amp; Future Scope</a:t>
            </a:r>
          </a:p>
          <a:p>
            <a:endParaRPr lang="en-IN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ED1D97-793A-A0C9-9072-266BFFD222F3}"/>
              </a:ext>
            </a:extLst>
          </p:cNvPr>
          <p:cNvSpPr txBox="1"/>
          <p:nvPr/>
        </p:nvSpPr>
        <p:spPr>
          <a:xfrm>
            <a:off x="1918348" y="2011680"/>
            <a:ext cx="318516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Project Outcome</a:t>
            </a:r>
          </a:p>
          <a:p>
            <a:r>
              <a:rPr lang="en-IN" sz="2000" dirty="0"/>
              <a:t>Functional Java shopping cart demonstrating practical OOP design and automated billing features.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B65179-B028-B5DF-B5EC-A1A809AAB70E}"/>
              </a:ext>
            </a:extLst>
          </p:cNvPr>
          <p:cNvSpPr txBox="1"/>
          <p:nvPr/>
        </p:nvSpPr>
        <p:spPr>
          <a:xfrm>
            <a:off x="7088493" y="2011680"/>
            <a:ext cx="323088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Immediate Improvements</a:t>
            </a:r>
          </a:p>
          <a:p>
            <a:r>
              <a:rPr lang="en-IN" sz="2000" dirty="0"/>
              <a:t>Refine GUI with Java Swing, add input validation, unit tests and better error handling.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EB07BD-B9EC-C895-D450-B152DBD58257}"/>
              </a:ext>
            </a:extLst>
          </p:cNvPr>
          <p:cNvSpPr txBox="1"/>
          <p:nvPr/>
        </p:nvSpPr>
        <p:spPr>
          <a:xfrm>
            <a:off x="2834640" y="4221480"/>
            <a:ext cx="707136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Planned Extensions</a:t>
            </a:r>
          </a:p>
          <a:p>
            <a:r>
              <a:rPr lang="en-IN" sz="2000" dirty="0"/>
              <a:t>Database integration (MySQL), user accounts, coupon codes, web frontend and payment gateway integration.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2170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762F024-146E-46FC-B657-CA2E4D80E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69" b="24968"/>
          <a:stretch>
            <a:fillRect/>
          </a:stretch>
        </p:blipFill>
        <p:spPr>
          <a:xfrm>
            <a:off x="0" y="-15230"/>
            <a:ext cx="12191980" cy="68579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753B97-BE29-39BA-DC57-9B0963A41FD6}"/>
              </a:ext>
            </a:extLst>
          </p:cNvPr>
          <p:cNvSpPr txBox="1"/>
          <p:nvPr/>
        </p:nvSpPr>
        <p:spPr>
          <a:xfrm>
            <a:off x="4190990" y="1905506"/>
            <a:ext cx="348997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600" dirty="0">
                <a:solidFill>
                  <a:schemeClr val="bg1"/>
                </a:solidFill>
              </a:rPr>
              <a:t>Thank </a:t>
            </a:r>
          </a:p>
          <a:p>
            <a:pPr algn="ctr"/>
            <a:r>
              <a:rPr lang="en-IN" sz="9600" dirty="0">
                <a:solidFill>
                  <a:schemeClr val="bg1"/>
                </a:solidFill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299844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{354FEBD5-1AC2-4D6F-8D44-FD3ED87701FB}tf55705232_win32</Template>
  <TotalTime>197</TotalTime>
  <Words>324</Words>
  <Application>Microsoft Office PowerPoint</Application>
  <PresentationFormat>Widescreen</PresentationFormat>
  <Paragraphs>48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Goudy Old Style</vt:lpstr>
      <vt:lpstr>Wingdings 2</vt:lpstr>
      <vt:lpstr>SlateVTI</vt:lpstr>
      <vt:lpstr>E‑Commerce Shopping Cart System </vt:lpstr>
      <vt:lpstr>Introduction — What this project does 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harshita2410hp@outlook.com</dc:creator>
  <cp:lastModifiedBy>harshita2410hp@outlook.com</cp:lastModifiedBy>
  <cp:revision>1</cp:revision>
  <dcterms:created xsi:type="dcterms:W3CDTF">2026-06-09T15:10:42Z</dcterms:created>
  <dcterms:modified xsi:type="dcterms:W3CDTF">2026-06-09T18:29:40Z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